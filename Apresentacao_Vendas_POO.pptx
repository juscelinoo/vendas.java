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92C"/>
                </a:solidFill>
                <a:latin typeface="Consolas"/>
              </a:rPr>
              <a:t>// PROGRAMAÇÃO ORIENTADA A OBJETOS  —  PROJETO COMENTADO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155448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5EFE6"/>
                </a:solidFill>
                <a:latin typeface="Calibri"/>
              </a:rPr>
              <a:t>Sistema de Vendas </a:t>
            </a:r>
            <a:r>
              <a:rPr sz="5200" b="1" i="0">
                <a:solidFill>
                  <a:srgbClr val="E0792C"/>
                </a:solidFill>
                <a:latin typeface="Calibri"/>
              </a:rPr>
              <a:t>em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7863840" cy="8229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>
                <a:solidFill>
                  <a:srgbClr val="F5EFE6"/>
                </a:solidFill>
                <a:latin typeface="Calibri Light"/>
              </a:rPr>
              <a:t>Os 4 pilares da POO na prática: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1">
                <a:solidFill>
                  <a:srgbClr val="CFC2B2"/>
                </a:solidFill>
                <a:latin typeface="Calibri Light"/>
              </a:rPr>
              <a:t>abstração · encapsulamento · herança · polimorfismo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611880"/>
            <a:ext cx="4892040" cy="2331720"/>
          </a:xfrm>
          <a:prstGeom prst="roundRect">
            <a:avLst>
              <a:gd name="adj" fmla="val 5000"/>
            </a:avLst>
          </a:prstGeom>
          <a:solidFill>
            <a:srgbClr val="2C2118"/>
          </a:solidFill>
          <a:ln>
            <a:noFill/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0" y="3611880"/>
            <a:ext cx="4892040" cy="384048"/>
          </a:xfrm>
          <a:prstGeom prst="roundRect">
            <a:avLst>
              <a:gd name="adj" fmla="val 6000"/>
            </a:avLst>
          </a:prstGeom>
          <a:solidFill>
            <a:srgbClr val="39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03720" y="3730752"/>
            <a:ext cx="146304" cy="146304"/>
          </a:xfrm>
          <a:prstGeom prst="ellipse">
            <a:avLst/>
          </a:prstGeom>
          <a:solidFill>
            <a:srgbClr val="E0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59752" y="3730752"/>
            <a:ext cx="146304" cy="146304"/>
          </a:xfrm>
          <a:prstGeom prst="ellipse">
            <a:avLst/>
          </a:prstGeom>
          <a:solidFill>
            <a:srgbClr val="E6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15783" y="3730752"/>
            <a:ext cx="146304" cy="146304"/>
          </a:xfrm>
          <a:prstGeom prst="ellipse">
            <a:avLst/>
          </a:prstGeom>
          <a:solidFill>
            <a:srgbClr val="66B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114800"/>
            <a:ext cx="4434840" cy="1783079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C7A6B"/>
                </a:solidFill>
                <a:latin typeface="Consolas"/>
              </a:rPr>
              <a:t>$ </a:t>
            </a:r>
            <a:r>
              <a:rPr sz="1300" b="0" i="0">
                <a:solidFill>
                  <a:srgbClr val="ECE4D8"/>
                </a:solidFill>
                <a:latin typeface="Consolas"/>
              </a:rPr>
              <a:t>javac SistemaVendas.java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C7A6B"/>
                </a:solidFill>
                <a:latin typeface="Consolas"/>
              </a:rPr>
              <a:t>$ </a:t>
            </a:r>
            <a:r>
              <a:rPr sz="1300" b="0" i="0">
                <a:solidFill>
                  <a:srgbClr val="ECE4D8"/>
                </a:solidFill>
                <a:latin typeface="Consolas"/>
              </a:rPr>
              <a:t>java SistemaVendas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 i="0">
                <a:solidFill>
                  <a:srgbClr val="ECE4D8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E0792C"/>
                </a:solidFill>
                <a:latin typeface="Consolas"/>
              </a:rPr>
              <a:t>===== MENU =====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ECE4D8"/>
                </a:solidFill>
                <a:latin typeface="Consolas"/>
              </a:rPr>
              <a:t>1  Adicionar vendas do mes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ECE4D8"/>
                </a:solidFill>
                <a:latin typeface="Consolas"/>
              </a:rPr>
              <a:t>4  Ver relatorio do mes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ECE4D8"/>
                </a:solidFill>
                <a:latin typeface="Consolas"/>
              </a:rPr>
              <a:t>6  Comparar dois meses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5EFE6"/>
                </a:solidFill>
                <a:latin typeface="Calibri"/>
              </a:rPr>
              <a:t>Altemir Filho e Juscelino Santos</a:t>
            </a:r>
            <a:r>
              <a:rPr sz="1300" b="0" i="1">
                <a:solidFill>
                  <a:srgbClr val="CFC2B2"/>
                </a:solidFill>
                <a:latin typeface="Calibri"/>
              </a:rPr>
              <a:t>    ·    programa de terminal · código comentado linha a linha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92C"/>
                </a:solidFill>
                <a:latin typeface="Consolas"/>
              </a:rPr>
              <a:t>//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338560" cy="8229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B211A"/>
                </a:solidFill>
                <a:latin typeface="Calibri"/>
              </a:rPr>
              <a:t>O que o sistema faz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035040" cy="8229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B211A"/>
                </a:solidFill>
                <a:latin typeface="Calibri"/>
              </a:rPr>
              <a:t>Um programa de terminal que registra as vendas de um vendedor, </a:t>
            </a:r>
            <a:r>
              <a:rPr sz="1500" b="1" i="0">
                <a:solidFill>
                  <a:srgbClr val="E0792C"/>
                </a:solidFill>
                <a:latin typeface="Calibri"/>
              </a:rPr>
              <a:t>mês a mês</a:t>
            </a:r>
            <a:r>
              <a:rPr sz="1500" b="0" i="0">
                <a:solidFill>
                  <a:srgbClr val="2B211A"/>
                </a:solidFill>
                <a:latin typeface="Calibri"/>
              </a:rPr>
              <a:t>, e gera relatórios automáticos.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807208"/>
            <a:ext cx="310896" cy="310896"/>
          </a:xfrm>
          <a:prstGeom prst="ellipse">
            <a:avLst/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752344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211A"/>
                </a:solidFill>
                <a:latin typeface="Calibri"/>
              </a:rPr>
              <a:t>Cadastrar  </a:t>
            </a:r>
            <a:r>
              <a:rPr sz="1350" b="0" i="0">
                <a:solidFill>
                  <a:srgbClr val="8A7969"/>
                </a:solidFill>
                <a:latin typeface="Calibri"/>
              </a:rPr>
              <a:t>— várias vendas (cliente + valor) no mês atual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319272"/>
            <a:ext cx="310896" cy="310896"/>
          </a:xfrm>
          <a:prstGeom prst="ellipse">
            <a:avLst/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264408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211A"/>
                </a:solidFill>
                <a:latin typeface="Calibri"/>
              </a:rPr>
              <a:t>Listar e apagar  </a:t>
            </a:r>
            <a:r>
              <a:rPr sz="1350" b="0" i="0">
                <a:solidFill>
                  <a:srgbClr val="8A7969"/>
                </a:solidFill>
                <a:latin typeface="Calibri"/>
              </a:rPr>
              <a:t>— ver e remover vendas por número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831335"/>
            <a:ext cx="310896" cy="310896"/>
          </a:xfrm>
          <a:prstGeom prst="ellipse">
            <a:avLst/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776472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211A"/>
                </a:solidFill>
                <a:latin typeface="Calibri"/>
              </a:rPr>
              <a:t>Relatório do mês  </a:t>
            </a:r>
            <a:r>
              <a:rPr sz="1350" b="0" i="0">
                <a:solidFill>
                  <a:srgbClr val="8A7969"/>
                </a:solidFill>
                <a:latin typeface="Calibri"/>
              </a:rPr>
              <a:t>— total, média, maior/menor, top clientes, comissão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343400"/>
            <a:ext cx="310896" cy="310896"/>
          </a:xfrm>
          <a:prstGeom prst="ellipse">
            <a:avLst/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288536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211A"/>
                </a:solidFill>
                <a:latin typeface="Calibri"/>
              </a:rPr>
              <a:t>Mês específico  </a:t>
            </a:r>
            <a:r>
              <a:rPr sz="1350" b="0" i="0">
                <a:solidFill>
                  <a:srgbClr val="8A7969"/>
                </a:solidFill>
                <a:latin typeface="Calibri"/>
              </a:rPr>
              <a:t>— abrir o relatório de qualquer mês salvo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4855464"/>
            <a:ext cx="310896" cy="310896"/>
          </a:xfrm>
          <a:prstGeom prst="ellipse">
            <a:avLst/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800600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211A"/>
                </a:solidFill>
                <a:latin typeface="Calibri"/>
              </a:rPr>
              <a:t>Comparar meses  </a:t>
            </a:r>
            <a:r>
              <a:rPr sz="1350" b="0" i="0">
                <a:solidFill>
                  <a:srgbClr val="8A7969"/>
                </a:solidFill>
                <a:latin typeface="Calibri"/>
              </a:rPr>
              <a:t>— ver qual mês faturou mais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5367528"/>
            <a:ext cx="310896" cy="310896"/>
          </a:xfrm>
          <a:prstGeom prst="ellipse">
            <a:avLst/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5312664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211A"/>
                </a:solidFill>
                <a:latin typeface="Calibri"/>
              </a:rPr>
              <a:t>Salvar sozinho  </a:t>
            </a:r>
            <a:r>
              <a:rPr sz="1350" b="0" i="0">
                <a:solidFill>
                  <a:srgbClr val="8A7969"/>
                </a:solidFill>
                <a:latin typeface="Calibri"/>
              </a:rPr>
              <a:t>— cada mês vira um arquivo JSON no disco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828800"/>
            <a:ext cx="4754880" cy="4160520"/>
          </a:xfrm>
          <a:prstGeom prst="roundRect">
            <a:avLst>
              <a:gd name="adj" fmla="val 6000"/>
            </a:avLst>
          </a:prstGeom>
          <a:solidFill>
            <a:srgbClr val="2C2118"/>
          </a:solidFill>
          <a:ln>
            <a:noFill/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59752" y="1993392"/>
            <a:ext cx="429768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0792C"/>
                </a:solidFill>
                <a:latin typeface="Consolas"/>
              </a:rPr>
              <a:t>O MENU PRINCIPAL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2" y="2377440"/>
            <a:ext cx="4297680" cy="3520439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===== MENU =====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1  Adicionar novas vendas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2  Ver todas as vendas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3  Apagar uma venda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4  Ver relatorio do mes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5  Relatorio de um mes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6  Comparar dois meses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7  Sair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 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Escolha uma opcao: 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7969"/>
                </a:solidFill>
                <a:latin typeface="Consolas"/>
              </a:rPr>
              <a:t>Sistema de Vendas • POO em Java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E0792C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92C"/>
                </a:solidFill>
                <a:latin typeface="Consolas"/>
              </a:rPr>
              <a:t>// 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338560" cy="8229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B211A"/>
                </a:solidFill>
                <a:latin typeface="Calibri"/>
              </a:rPr>
              <a:t>Os 4 pilares da POO no projeto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440680" cy="1993392"/>
          </a:xfrm>
          <a:prstGeom prst="roundRect">
            <a:avLst>
              <a:gd name="adj" fmla="val 6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2185415"/>
            <a:ext cx="603504" cy="603504"/>
          </a:xfrm>
          <a:prstGeom prst="ellipse">
            <a:avLst/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167127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2B211A"/>
                </a:solidFill>
                <a:latin typeface="Calibri"/>
              </a:rPr>
              <a:t>Abstração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898648"/>
            <a:ext cx="4892040" cy="896112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7969"/>
                </a:solidFill>
                <a:latin typeface="Calibri"/>
              </a:rPr>
              <a:t>Cada classe modela um conceito real — Venda, Armazenamento, Relatorio, SistemaVendas.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74519"/>
            <a:ext cx="5440680" cy="1993392"/>
          </a:xfrm>
          <a:prstGeom prst="roundRect">
            <a:avLst>
              <a:gd name="adj" fmla="val 6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39128" y="2185415"/>
            <a:ext cx="603504" cy="603504"/>
          </a:xfrm>
          <a:prstGeom prst="ellipse">
            <a:avLst/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167127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2B211A"/>
                </a:solidFill>
                <a:latin typeface="Calibri"/>
              </a:rPr>
              <a:t>Encapsulamento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7416" y="2898648"/>
            <a:ext cx="4892040" cy="896112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7969"/>
                </a:solidFill>
                <a:latin typeface="Calibri"/>
              </a:rPr>
              <a:t>Atributos private com getters; ninguém altera os dados por fora, só os métodos.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87952"/>
            <a:ext cx="5440680" cy="1993392"/>
          </a:xfrm>
          <a:prstGeom prst="roundRect">
            <a:avLst>
              <a:gd name="adj" fmla="val 6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7" y="4498848"/>
            <a:ext cx="603504" cy="603504"/>
          </a:xfrm>
          <a:prstGeom prst="ellipse">
            <a:avLst/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44805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2B211A"/>
                </a:solidFill>
                <a:latin typeface="Calibri"/>
              </a:rPr>
              <a:t>Herança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212080"/>
            <a:ext cx="4892040" cy="896112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7969"/>
                </a:solidFill>
                <a:latin typeface="Calibri"/>
              </a:rPr>
              <a:t>GerenciadorVendas extends Armazenamento; os relatórios extends Relatorio.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4187952"/>
            <a:ext cx="5440680" cy="1993392"/>
          </a:xfrm>
          <a:prstGeom prst="roundRect">
            <a:avLst>
              <a:gd name="adj" fmla="val 6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39128" y="4498848"/>
            <a:ext cx="603504" cy="603504"/>
          </a:xfrm>
          <a:prstGeom prst="ellipse">
            <a:avLst/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4805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2B211A"/>
                </a:solidFill>
                <a:latin typeface="Calibri"/>
              </a:rPr>
              <a:t>Polimorfismo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7416" y="5212080"/>
            <a:ext cx="4892040" cy="896112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7969"/>
                </a:solidFill>
                <a:latin typeface="Calibri"/>
              </a:rPr>
              <a:t>exibir(): mesmo nome, comportamento diferente em cada tipo de relatório.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7969"/>
                </a:solidFill>
                <a:latin typeface="Consolas"/>
              </a:rPr>
              <a:t>Sistema de Vendas • POO em Java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E0792C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92C"/>
                </a:solidFill>
                <a:latin typeface="Consolas"/>
              </a:rPr>
              <a:t>//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338560" cy="8229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B211A"/>
                </a:solidFill>
                <a:latin typeface="Calibri"/>
              </a:rPr>
              <a:t>As 7 classes e como se conectam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1783080"/>
            <a:ext cx="3566160" cy="777240"/>
          </a:xfrm>
          <a:prstGeom prst="roundRect">
            <a:avLst>
              <a:gd name="adj" fmla="val 12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31720" y="1783080"/>
            <a:ext cx="91440" cy="777240"/>
          </a:xfrm>
          <a:prstGeom prst="roundRect">
            <a:avLst>
              <a:gd name="adj" fmla="val 30000"/>
            </a:avLst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32888" y="1783080"/>
            <a:ext cx="3255264" cy="777240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2B211A"/>
                </a:solidFill>
                <a:latin typeface="Calibri"/>
              </a:rPr>
              <a:t>SistemaVendas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1">
                <a:solidFill>
                  <a:srgbClr val="8A7969"/>
                </a:solidFill>
                <a:latin typeface="Consolas"/>
              </a:rPr>
              <a:t>« main · controla o menu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3200400"/>
            <a:ext cx="91440" cy="868680"/>
          </a:xfrm>
          <a:prstGeom prst="roundRect">
            <a:avLst>
              <a:gd name="adj" fmla="val 30000"/>
            </a:avLst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200400"/>
            <a:ext cx="2432304" cy="868680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2B211A"/>
                </a:solidFill>
                <a:latin typeface="Calibri"/>
              </a:rPr>
              <a:t>GerenciadorVendas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1">
                <a:solidFill>
                  <a:srgbClr val="8A7969"/>
                </a:solidFill>
                <a:latin typeface="Consolas"/>
              </a:rPr>
              <a:t>« gerencia as vendas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3200400"/>
            <a:ext cx="2423160" cy="868680"/>
          </a:xfrm>
          <a:prstGeom prst="roundRect">
            <a:avLst>
              <a:gd name="adj" fmla="val 12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11880" y="3200400"/>
            <a:ext cx="91440" cy="868680"/>
          </a:xfrm>
          <a:prstGeom prst="roundRect">
            <a:avLst>
              <a:gd name="adj" fmla="val 30000"/>
            </a:avLst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3200400"/>
            <a:ext cx="2112264" cy="868680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2B211A"/>
                </a:solidFill>
                <a:latin typeface="Calibri"/>
              </a:rPr>
              <a:t>RelatorioMensal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1">
                <a:solidFill>
                  <a:srgbClr val="8A7969"/>
                </a:solidFill>
                <a:latin typeface="Consolas"/>
              </a:rPr>
              <a:t>« 1 mês 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00400"/>
            <a:ext cx="2468880" cy="868680"/>
          </a:xfrm>
          <a:prstGeom prst="roundRect">
            <a:avLst>
              <a:gd name="adj" fmla="val 12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3200400"/>
            <a:ext cx="91440" cy="868680"/>
          </a:xfrm>
          <a:prstGeom prst="roundRect">
            <a:avLst>
              <a:gd name="adj" fmla="val 30000"/>
            </a:avLst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200400"/>
            <a:ext cx="2157984" cy="868680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2B211A"/>
                </a:solidFill>
                <a:latin typeface="Calibri"/>
              </a:rPr>
              <a:t>RelatorioComparativo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1">
                <a:solidFill>
                  <a:srgbClr val="8A7969"/>
                </a:solidFill>
                <a:latin typeface="Consolas"/>
              </a:rPr>
              <a:t>« 2 meses 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92040"/>
            <a:ext cx="2743200" cy="822960"/>
          </a:xfrm>
          <a:prstGeom prst="roundRect">
            <a:avLst>
              <a:gd name="adj" fmla="val 12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892040"/>
            <a:ext cx="91440" cy="822960"/>
          </a:xfrm>
          <a:prstGeom prst="roundRect">
            <a:avLst>
              <a:gd name="adj" fmla="val 30000"/>
            </a:avLst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892040"/>
            <a:ext cx="2432304" cy="822960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2B211A"/>
                </a:solidFill>
                <a:latin typeface="Calibri"/>
              </a:rPr>
              <a:t>Armazenamento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1">
                <a:solidFill>
                  <a:srgbClr val="8A7969"/>
                </a:solidFill>
                <a:latin typeface="Consolas"/>
              </a:rPr>
              <a:t>« lê/grava JSON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489204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80560" y="4892040"/>
            <a:ext cx="91440" cy="822960"/>
          </a:xfrm>
          <a:prstGeom prst="roundRect">
            <a:avLst>
              <a:gd name="adj" fmla="val 30000"/>
            </a:avLst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4892040"/>
            <a:ext cx="2203704" cy="822960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2B211A"/>
                </a:solidFill>
                <a:latin typeface="Calibri"/>
              </a:rPr>
              <a:t>Relatorio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1">
                <a:solidFill>
                  <a:srgbClr val="8A7969"/>
                </a:solidFill>
                <a:latin typeface="Consolas"/>
              </a:rPr>
              <a:t>« abstract · molde 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11680" y="4069080"/>
            <a:ext cx="0" cy="822960"/>
          </a:xfrm>
          <a:prstGeom prst="line">
            <a:avLst/>
          </a:prstGeom>
          <a:ln w="27940">
            <a:solidFill>
              <a:srgbClr val="E07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3460" y="4069080"/>
            <a:ext cx="914400" cy="822960"/>
          </a:xfrm>
          <a:prstGeom prst="line">
            <a:avLst/>
          </a:prstGeom>
          <a:ln w="27940">
            <a:solidFill>
              <a:srgbClr val="E07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737860" y="4069080"/>
            <a:ext cx="1714500" cy="822960"/>
          </a:xfrm>
          <a:prstGeom prst="line">
            <a:avLst/>
          </a:prstGeom>
          <a:ln w="27940">
            <a:solidFill>
              <a:srgbClr val="E07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011680" y="2560320"/>
            <a:ext cx="1554480" cy="640080"/>
          </a:xfrm>
          <a:prstGeom prst="line">
            <a:avLst/>
          </a:prstGeom>
          <a:ln w="22860">
            <a:prstDash val="dash"/>
            <a:solidFill>
              <a:srgbClr val="2C7A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63440" y="2560320"/>
            <a:ext cx="160020" cy="640080"/>
          </a:xfrm>
          <a:prstGeom prst="line">
            <a:avLst/>
          </a:prstGeom>
          <a:ln w="22860">
            <a:prstDash val="dash"/>
            <a:solidFill>
              <a:srgbClr val="2C7A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4334256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B55E1C"/>
                </a:solidFill>
                <a:latin typeface="Consolas"/>
              </a:rPr>
              <a:t>extends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6380" y="4334256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B55E1C"/>
                </a:solidFill>
                <a:latin typeface="Consolas"/>
              </a:rPr>
              <a:t>extends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274320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C7A6B"/>
                </a:solidFill>
                <a:latin typeface="Consolas"/>
              </a:rPr>
              <a:t>tem um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1783080"/>
            <a:ext cx="2606040" cy="4114800"/>
          </a:xfrm>
          <a:prstGeom prst="roundRect">
            <a:avLst>
              <a:gd name="adj" fmla="val 5000"/>
            </a:avLst>
          </a:prstGeom>
          <a:solidFill>
            <a:srgbClr val="EFE7DA"/>
          </a:solidFill>
          <a:ln w="12700">
            <a:solidFill>
              <a:srgbClr val="E2D7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90888" y="1920240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8A7969"/>
                </a:solidFill>
                <a:latin typeface="Consolas"/>
              </a:rPr>
              <a:t>BLOCOS DE APOIO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2331720"/>
            <a:ext cx="2240280" cy="777240"/>
          </a:xfrm>
          <a:prstGeom prst="roundRect">
            <a:avLst>
              <a:gd name="adj" fmla="val 12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72600" y="2331720"/>
            <a:ext cx="91440" cy="777240"/>
          </a:xfrm>
          <a:prstGeom prst="roundRect">
            <a:avLst>
              <a:gd name="adj" fmla="val 30000"/>
            </a:avLst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73768" y="2331720"/>
            <a:ext cx="1929384" cy="777240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2B211A"/>
                </a:solidFill>
                <a:latin typeface="Calibri"/>
              </a:rPr>
              <a:t>Venda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1">
                <a:solidFill>
                  <a:srgbClr val="8A7969"/>
                </a:solidFill>
                <a:latin typeface="Consolas"/>
              </a:rPr>
              <a:t>« entidade 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9176" y="3127248"/>
            <a:ext cx="2194560" cy="4572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A7969"/>
                </a:solidFill>
                <a:latin typeface="Calibri"/>
              </a:rPr>
              <a:t>cliente + valor — o 'tijolo' do sistema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72600" y="3703320"/>
            <a:ext cx="2240280" cy="777240"/>
          </a:xfrm>
          <a:prstGeom prst="roundRect">
            <a:avLst>
              <a:gd name="adj" fmla="val 12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72600" y="3703320"/>
            <a:ext cx="91440" cy="777240"/>
          </a:xfrm>
          <a:prstGeom prst="roundRect">
            <a:avLst>
              <a:gd name="adj" fmla="val 30000"/>
            </a:avLst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73768" y="3703320"/>
            <a:ext cx="1929384" cy="777240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2B211A"/>
                </a:solidFill>
                <a:latin typeface="Calibri"/>
              </a:rPr>
              <a:t>JsonMini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1">
                <a:solidFill>
                  <a:srgbClr val="8A7969"/>
                </a:solidFill>
                <a:latin typeface="Consolas"/>
              </a:rPr>
              <a:t>« utilitário 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9176" y="4498848"/>
            <a:ext cx="2194560" cy="4572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A7969"/>
                </a:solidFill>
                <a:latin typeface="Calibri"/>
              </a:rPr>
              <a:t>lê/grava o arquivo JSON (Java não traz pronto)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90888" y="5175504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0792C"/>
                </a:solidFill>
                <a:latin typeface="Consolas"/>
              </a:rPr>
              <a:t>──</a:t>
            </a:r>
            <a:r>
              <a:rPr sz="1050" b="0" i="0">
                <a:solidFill>
                  <a:srgbClr val="2B211A"/>
                </a:solidFill>
                <a:latin typeface="Calibri"/>
              </a:rPr>
              <a:t>  extends (herança)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90888" y="5449824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C7A6B"/>
                </a:solidFill>
                <a:latin typeface="Consolas"/>
              </a:rPr>
              <a:t>- -</a:t>
            </a:r>
            <a:r>
              <a:rPr sz="1050" b="0" i="0">
                <a:solidFill>
                  <a:srgbClr val="2B211A"/>
                </a:solidFill>
                <a:latin typeface="Calibri"/>
              </a:rPr>
              <a:t>  tem um (composição)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7969"/>
                </a:solidFill>
                <a:latin typeface="Consolas"/>
              </a:rPr>
              <a:t>Sistema de Vendas • POO em Java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E0792C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92C"/>
                </a:solidFill>
                <a:latin typeface="Consolas"/>
              </a:rPr>
              <a:t>// AS CLASSES EM DETALHE  ·  1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338560" cy="8229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B211A"/>
                </a:solidFill>
                <a:latin typeface="Calibri"/>
              </a:rPr>
              <a:t>Entidade e armazenamento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1201400" cy="1371600"/>
          </a:xfrm>
          <a:prstGeom prst="roundRect">
            <a:avLst>
              <a:gd name="adj" fmla="val 6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91440" cy="1371600"/>
          </a:xfrm>
          <a:prstGeom prst="roundRect">
            <a:avLst>
              <a:gd name="adj" fmla="val 30000"/>
            </a:avLst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75104"/>
            <a:ext cx="283464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B211A"/>
                </a:solidFill>
                <a:latin typeface="Calibri"/>
              </a:rPr>
              <a:t>Venda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834640" cy="292608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7969"/>
                </a:solidFill>
                <a:latin typeface="Consolas"/>
              </a:rPr>
              <a:t>« entidade 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Encapsulamento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938528"/>
            <a:ext cx="7635240" cy="1152144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Papel:  </a:t>
            </a:r>
            <a:r>
              <a:rPr sz="1200" b="0" i="0">
                <a:solidFill>
                  <a:srgbClr val="8A7969"/>
                </a:solidFill>
                <a:latin typeface="Calibri"/>
              </a:rPr>
              <a:t>modela uma venda — um cliente e um valor.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Atributos:  </a:t>
            </a:r>
            <a:r>
              <a:rPr sz="1100" b="0" i="0">
                <a:solidFill>
                  <a:srgbClr val="2C7A6B"/>
                </a:solidFill>
                <a:latin typeface="Consolas"/>
              </a:rPr>
              <a:t>cliente, valor   (private final)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Métodos:  </a:t>
            </a:r>
            <a:r>
              <a:rPr sz="1100" b="0" i="0">
                <a:solidFill>
                  <a:srgbClr val="B55E1C"/>
                </a:solidFill>
                <a:latin typeface="Consolas"/>
              </a:rPr>
              <a:t>getCliente(), getValor(), toDict(), fromDict()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10128"/>
            <a:ext cx="11201400" cy="1371600"/>
          </a:xfrm>
          <a:prstGeom prst="roundRect">
            <a:avLst>
              <a:gd name="adj" fmla="val 6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310128"/>
            <a:ext cx="91440" cy="1371600"/>
          </a:xfrm>
          <a:prstGeom prst="roundRect">
            <a:avLst>
              <a:gd name="adj" fmla="val 30000"/>
            </a:avLst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56432"/>
            <a:ext cx="283464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B211A"/>
                </a:solidFill>
                <a:latin typeface="Calibri"/>
              </a:rPr>
              <a:t>Armazenamento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13048"/>
            <a:ext cx="2834640" cy="292608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7969"/>
                </a:solidFill>
                <a:latin typeface="Consolas"/>
              </a:rPr>
              <a:t>« classe-mãe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17880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78808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Abstração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419856"/>
            <a:ext cx="7635240" cy="1152144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Papel:  </a:t>
            </a:r>
            <a:r>
              <a:rPr sz="1200" b="0" i="0">
                <a:solidFill>
                  <a:srgbClr val="8A7969"/>
                </a:solidFill>
                <a:latin typeface="Calibri"/>
              </a:rPr>
              <a:t>lê e grava o arquivo JSON no disco — uma só responsabilidade.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Atributos:  </a:t>
            </a:r>
            <a:r>
              <a:rPr sz="1100" b="0" i="0">
                <a:solidFill>
                  <a:srgbClr val="2C7A6B"/>
                </a:solidFill>
                <a:latin typeface="Consolas"/>
              </a:rPr>
              <a:t>nomeArquivo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Métodos:  </a:t>
            </a:r>
            <a:r>
              <a:rPr sz="1100" b="0" i="0">
                <a:solidFill>
                  <a:srgbClr val="B55E1C"/>
                </a:solidFill>
                <a:latin typeface="Consolas"/>
              </a:rPr>
              <a:t>carregarJson(), salvarJson()   (protected)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791456"/>
            <a:ext cx="11201400" cy="1371600"/>
          </a:xfrm>
          <a:prstGeom prst="roundRect">
            <a:avLst>
              <a:gd name="adj" fmla="val 6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4791456"/>
            <a:ext cx="91440" cy="1371600"/>
          </a:xfrm>
          <a:prstGeom prst="roundRect">
            <a:avLst>
              <a:gd name="adj" fmla="val 30000"/>
            </a:avLst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37760"/>
            <a:ext cx="283464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B211A"/>
                </a:solidFill>
                <a:latin typeface="Calibri"/>
              </a:rPr>
              <a:t>GerenciadorVendas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94376"/>
            <a:ext cx="2834640" cy="292608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7969"/>
                </a:solidFill>
                <a:latin typeface="Consolas"/>
              </a:rPr>
              <a:t>« extends Armazenamento 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660136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0136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Herança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901184"/>
            <a:ext cx="7635240" cy="1152144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Papel:  </a:t>
            </a:r>
            <a:r>
              <a:rPr sz="1200" b="0" i="0">
                <a:solidFill>
                  <a:srgbClr val="8A7969"/>
                </a:solidFill>
                <a:latin typeface="Calibri"/>
              </a:rPr>
              <a:t>gerencia a lista de vendas de um mês.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Atributos:  </a:t>
            </a:r>
            <a:r>
              <a:rPr sz="1100" b="0" i="0">
                <a:solidFill>
                  <a:srgbClr val="2C7A6B"/>
                </a:solidFill>
                <a:latin typeface="Consolas"/>
              </a:rPr>
              <a:t>mes,   vendas : List&lt;Venda&gt;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Métodos:  </a:t>
            </a:r>
            <a:r>
              <a:rPr sz="1100" b="0" i="0">
                <a:solidFill>
                  <a:srgbClr val="B55E1C"/>
                </a:solidFill>
                <a:latin typeface="Consolas"/>
              </a:rPr>
              <a:t>adicionar(), apagar(), listar(), salvar()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7969"/>
                </a:solidFill>
                <a:latin typeface="Consolas"/>
              </a:rPr>
              <a:t>Sistema de Vendas • POO em Java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E0792C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92C"/>
                </a:solidFill>
                <a:latin typeface="Consolas"/>
              </a:rPr>
              <a:t>// AS CLASSES EM DETALHE  ·  2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338560" cy="8229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B211A"/>
                </a:solidFill>
                <a:latin typeface="Calibri"/>
              </a:rPr>
              <a:t>A família de relatórios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1201400" cy="1371600"/>
          </a:xfrm>
          <a:prstGeom prst="roundRect">
            <a:avLst>
              <a:gd name="adj" fmla="val 6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91440" cy="1371600"/>
          </a:xfrm>
          <a:prstGeom prst="roundRect">
            <a:avLst>
              <a:gd name="adj" fmla="val 30000"/>
            </a:avLst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75104"/>
            <a:ext cx="283464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B211A"/>
                </a:solidFill>
                <a:latin typeface="Calibri"/>
              </a:rPr>
              <a:t>Relatorio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834640" cy="292608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7969"/>
                </a:solidFill>
                <a:latin typeface="Consolas"/>
              </a:rPr>
              <a:t>« classe abstrata 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Abstração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938528"/>
            <a:ext cx="7635240" cy="1152144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Papel:  </a:t>
            </a:r>
            <a:r>
              <a:rPr sz="1200" b="0" i="0">
                <a:solidFill>
                  <a:srgbClr val="8A7969"/>
                </a:solidFill>
                <a:latin typeface="Calibri"/>
              </a:rPr>
              <a:t>molde comum a todo relatório; define o contrato exibir().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Atributos:  </a:t>
            </a:r>
            <a:r>
              <a:rPr sz="1100" b="0" i="0">
                <a:solidFill>
                  <a:srgbClr val="2C7A6B"/>
                </a:solidFill>
                <a:latin typeface="Consolas"/>
              </a:rPr>
              <a:t>COMISSAO_PERCENTUAL   (static final)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Métodos:  </a:t>
            </a:r>
            <a:r>
              <a:rPr sz="1100" b="0" i="0">
                <a:solidFill>
                  <a:srgbClr val="B55E1C"/>
                </a:solidFill>
                <a:latin typeface="Consolas"/>
              </a:rPr>
              <a:t>formatarDinheiro() static,  exibir() abstract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10128"/>
            <a:ext cx="11201400" cy="1371600"/>
          </a:xfrm>
          <a:prstGeom prst="roundRect">
            <a:avLst>
              <a:gd name="adj" fmla="val 6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310128"/>
            <a:ext cx="91440" cy="1371600"/>
          </a:xfrm>
          <a:prstGeom prst="roundRect">
            <a:avLst>
              <a:gd name="adj" fmla="val 30000"/>
            </a:avLst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56432"/>
            <a:ext cx="283464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B211A"/>
                </a:solidFill>
                <a:latin typeface="Calibri"/>
              </a:rPr>
              <a:t>RelatorioMensal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13048"/>
            <a:ext cx="2834640" cy="292608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7969"/>
                </a:solidFill>
                <a:latin typeface="Consolas"/>
              </a:rPr>
              <a:t>« extends Relatorio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17880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78808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Polimorfismo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419856"/>
            <a:ext cx="7635240" cy="1152144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Papel:  </a:t>
            </a:r>
            <a:r>
              <a:rPr sz="1200" b="0" i="0">
                <a:solidFill>
                  <a:srgbClr val="8A7969"/>
                </a:solidFill>
                <a:latin typeface="Calibri"/>
              </a:rPr>
              <a:t>estatísticas de um mês: total, média, comissão, top clientes.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Atributos:  </a:t>
            </a:r>
            <a:r>
              <a:rPr sz="1100" b="0" i="0">
                <a:solidFill>
                  <a:srgbClr val="2C7A6B"/>
                </a:solidFill>
                <a:latin typeface="Consolas"/>
              </a:rPr>
              <a:t>gerenciador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Métodos:  </a:t>
            </a:r>
            <a:r>
              <a:rPr sz="1100" b="0" i="0">
                <a:solidFill>
                  <a:srgbClr val="B55E1C"/>
                </a:solidFill>
                <a:latin typeface="Consolas"/>
              </a:rPr>
              <a:t>exibir() @Override,  chaveComMaiorValor()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791456"/>
            <a:ext cx="11201400" cy="1371600"/>
          </a:xfrm>
          <a:prstGeom prst="roundRect">
            <a:avLst>
              <a:gd name="adj" fmla="val 6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4791456"/>
            <a:ext cx="91440" cy="1371600"/>
          </a:xfrm>
          <a:prstGeom prst="roundRect">
            <a:avLst>
              <a:gd name="adj" fmla="val 30000"/>
            </a:avLst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37760"/>
            <a:ext cx="283464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B211A"/>
                </a:solidFill>
                <a:latin typeface="Calibri"/>
              </a:rPr>
              <a:t>RelatorioComparativo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94376"/>
            <a:ext cx="2834640" cy="292608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7969"/>
                </a:solidFill>
                <a:latin typeface="Consolas"/>
              </a:rPr>
              <a:t>« extends Relatorio 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660136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0136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Polimorfismo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901184"/>
            <a:ext cx="7635240" cy="1152144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Papel:  </a:t>
            </a:r>
            <a:r>
              <a:rPr sz="1200" b="0" i="0">
                <a:solidFill>
                  <a:srgbClr val="8A7969"/>
                </a:solidFill>
                <a:latin typeface="Calibri"/>
              </a:rPr>
              <a:t>compara o faturamento de dois meses.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Atributos:  </a:t>
            </a:r>
            <a:r>
              <a:rPr sz="1100" b="0" i="0">
                <a:solidFill>
                  <a:srgbClr val="2C7A6B"/>
                </a:solidFill>
                <a:latin typeface="Consolas"/>
              </a:rPr>
              <a:t>mes1, mes2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Métodos:  </a:t>
            </a:r>
            <a:r>
              <a:rPr sz="1100" b="0" i="0">
                <a:solidFill>
                  <a:srgbClr val="B55E1C"/>
                </a:solidFill>
                <a:latin typeface="Consolas"/>
              </a:rPr>
              <a:t>exibir() @Override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7969"/>
                </a:solidFill>
                <a:latin typeface="Consolas"/>
              </a:rPr>
              <a:t>Sistema de Vendas • POO em Java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E0792C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92C"/>
                </a:solidFill>
                <a:latin typeface="Consolas"/>
              </a:rPr>
              <a:t>// AS CLASSES EM DETALHE  ·  3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338560" cy="8229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B211A"/>
                </a:solidFill>
                <a:latin typeface="Calibri"/>
              </a:rPr>
              <a:t>Controle e utilitário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11201400" cy="1874519"/>
          </a:xfrm>
          <a:prstGeom prst="roundRect">
            <a:avLst>
              <a:gd name="adj" fmla="val 6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91440" cy="1874519"/>
          </a:xfrm>
          <a:prstGeom prst="roundRect">
            <a:avLst>
              <a:gd name="adj" fmla="val 30000"/>
            </a:avLst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20824"/>
            <a:ext cx="283464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B211A"/>
                </a:solidFill>
                <a:latin typeface="Calibri"/>
              </a:rPr>
              <a:t>SistemaVendas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39"/>
            <a:ext cx="2834640" cy="292608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7969"/>
                </a:solidFill>
                <a:latin typeface="Consolas"/>
              </a:rPr>
              <a:t>« public · classe principal (main) 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Composição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984248"/>
            <a:ext cx="7635240" cy="1655063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Papel:  </a:t>
            </a:r>
            <a:r>
              <a:rPr sz="1200" b="0" i="0">
                <a:solidFill>
                  <a:srgbClr val="8A7969"/>
                </a:solidFill>
                <a:latin typeface="Calibri"/>
              </a:rPr>
              <a:t>controla o menu e a conversa com o usuário; só orquestra — delega o trabalho aos outros objetos.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Atributos:  </a:t>
            </a:r>
            <a:r>
              <a:rPr sz="1100" b="0" i="0">
                <a:solidFill>
                  <a:srgbClr val="2C7A6B"/>
                </a:solidFill>
                <a:latin typeface="Consolas"/>
              </a:rPr>
              <a:t>gerenciador,  relatorio,  ENTRADA : Scanner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Métodos:  </a:t>
            </a:r>
            <a:r>
              <a:rPr sz="1100" b="0" i="0">
                <a:solidFill>
                  <a:srgbClr val="B55E1C"/>
                </a:solidFill>
                <a:latin typeface="Consolas"/>
              </a:rPr>
              <a:t>main(), executar(), exibirLista(), opcaoAdicionar(), opcaoApagar(), opcaoComparar()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77639"/>
            <a:ext cx="11201400" cy="1874519"/>
          </a:xfrm>
          <a:prstGeom prst="roundRect">
            <a:avLst>
              <a:gd name="adj" fmla="val 6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977639"/>
            <a:ext cx="91440" cy="1874519"/>
          </a:xfrm>
          <a:prstGeom prst="roundRect">
            <a:avLst>
              <a:gd name="adj" fmla="val 30000"/>
            </a:avLst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23944"/>
            <a:ext cx="283464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B211A"/>
                </a:solidFill>
                <a:latin typeface="Calibri"/>
              </a:rPr>
              <a:t>JsonMini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80559"/>
            <a:ext cx="2834640" cy="292608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7969"/>
                </a:solidFill>
                <a:latin typeface="Consolas"/>
              </a:rPr>
              <a:t>« utilitário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4632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Abstração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087368"/>
            <a:ext cx="7635240" cy="1655063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Papel:  </a:t>
            </a:r>
            <a:r>
              <a:rPr sz="1200" b="0" i="0">
                <a:solidFill>
                  <a:srgbClr val="8A7969"/>
                </a:solidFill>
                <a:latin typeface="Calibri"/>
              </a:rPr>
              <a:t>lê e grava JSON sem usar bibliotecas externas (só o JDK).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Atributos:  </a:t>
            </a:r>
            <a:r>
              <a:rPr sz="1100" b="0" i="0">
                <a:solidFill>
                  <a:srgbClr val="2C7A6B"/>
                </a:solidFill>
                <a:latin typeface="Consolas"/>
              </a:rPr>
              <a:t>s : texto,   i : posição de leitura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211A"/>
                </a:solidFill>
                <a:latin typeface="Calibri"/>
              </a:rPr>
              <a:t>Métodos:  </a:t>
            </a:r>
            <a:r>
              <a:rPr sz="1100" b="0" i="0">
                <a:solidFill>
                  <a:srgbClr val="B55E1C"/>
                </a:solidFill>
                <a:latin typeface="Consolas"/>
              </a:rPr>
              <a:t>escreverListaDeObjetos(),  parseListaDeObjetos()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7969"/>
                </a:solidFill>
                <a:latin typeface="Consolas"/>
              </a:rPr>
              <a:t>Sistema de Vendas • POO em Java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E0792C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92C"/>
                </a:solidFill>
                <a:latin typeface="Consolas"/>
              </a:rPr>
              <a:t>// AS FUNÇÕES TRABALHANDO JUNTAS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338560" cy="8229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B211A"/>
                </a:solidFill>
                <a:latin typeface="Calibri"/>
              </a:rPr>
              <a:t>Como uma venda é adicionada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2240280"/>
            <a:ext cx="0" cy="3291840"/>
          </a:xfrm>
          <a:prstGeom prst="line">
            <a:avLst/>
          </a:prstGeom>
          <a:ln w="27940">
            <a:solidFill>
              <a:srgbClr val="E2D7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25880" y="1874519"/>
            <a:ext cx="6720840" cy="676656"/>
          </a:xfrm>
          <a:prstGeom prst="roundRect">
            <a:avLst>
              <a:gd name="adj" fmla="val 10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984248"/>
            <a:ext cx="457200" cy="457200"/>
          </a:xfrm>
          <a:prstGeom prst="ellipse">
            <a:avLst/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920239"/>
            <a:ext cx="6400800" cy="603504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11A"/>
                </a:solidFill>
                <a:latin typeface="Consolas"/>
              </a:rPr>
              <a:t>SistemaVendas.opcaoAdicionar()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7969"/>
                </a:solidFill>
                <a:latin typeface="Calibri"/>
              </a:rPr>
              <a:t>lê o nome do cliente e o valor no teclado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715768"/>
            <a:ext cx="6720840" cy="676656"/>
          </a:xfrm>
          <a:prstGeom prst="roundRect">
            <a:avLst>
              <a:gd name="adj" fmla="val 10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825496"/>
            <a:ext cx="457200" cy="457200"/>
          </a:xfrm>
          <a:prstGeom prst="ellipse">
            <a:avLst/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761487"/>
            <a:ext cx="6400800" cy="603504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11A"/>
                </a:solidFill>
                <a:latin typeface="Consolas"/>
              </a:rPr>
              <a:t>GerenciadorVendas.adicionar(...)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7969"/>
                </a:solidFill>
                <a:latin typeface="Calibri"/>
              </a:rPr>
              <a:t>cria new Venda(...) e coloca na lista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3557015"/>
            <a:ext cx="6720840" cy="676656"/>
          </a:xfrm>
          <a:prstGeom prst="roundRect">
            <a:avLst>
              <a:gd name="adj" fmla="val 10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666744"/>
            <a:ext cx="457200" cy="457200"/>
          </a:xfrm>
          <a:prstGeom prst="ellipse">
            <a:avLst/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602735"/>
            <a:ext cx="6400800" cy="603504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11A"/>
                </a:solidFill>
                <a:latin typeface="Consolas"/>
              </a:rPr>
              <a:t>GerenciadorVendas.salvar()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7969"/>
                </a:solidFill>
                <a:latin typeface="Calibri"/>
              </a:rPr>
              <a:t>transforma cada Venda em mapa com toDict()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4398264"/>
            <a:ext cx="6720840" cy="676656"/>
          </a:xfrm>
          <a:prstGeom prst="roundRect">
            <a:avLst>
              <a:gd name="adj" fmla="val 10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507992"/>
            <a:ext cx="457200" cy="457200"/>
          </a:xfrm>
          <a:prstGeom prst="ellipse">
            <a:avLst/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443983"/>
            <a:ext cx="6400800" cy="603504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11A"/>
                </a:solidFill>
                <a:latin typeface="Consolas"/>
              </a:rPr>
              <a:t>Armazenamento.salvarJson(...)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7969"/>
                </a:solidFill>
                <a:latin typeface="Calibri"/>
              </a:rPr>
              <a:t>(herdado) recebe os dados e grava o arquivo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5239512"/>
            <a:ext cx="6720840" cy="676656"/>
          </a:xfrm>
          <a:prstGeom prst="roundRect">
            <a:avLst>
              <a:gd name="adj" fmla="val 10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5349240"/>
            <a:ext cx="457200" cy="457200"/>
          </a:xfrm>
          <a:prstGeom prst="ellipse">
            <a:avLst/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5285231"/>
            <a:ext cx="6400800" cy="603504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11A"/>
                </a:solidFill>
                <a:latin typeface="Consolas"/>
              </a:rPr>
              <a:t>JsonMini.escreverListaDeObjetos(...)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7969"/>
                </a:solidFill>
                <a:latin typeface="Calibri"/>
              </a:rPr>
              <a:t>monta o texto JSON final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874519"/>
            <a:ext cx="3383280" cy="3977639"/>
          </a:xfrm>
          <a:prstGeom prst="roundRect">
            <a:avLst>
              <a:gd name="adj" fmla="val 5000"/>
            </a:avLst>
          </a:prstGeom>
          <a:solidFill>
            <a:srgbClr val="2C2118"/>
          </a:solidFill>
          <a:ln>
            <a:noFill/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121408"/>
            <a:ext cx="288036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0792C"/>
                </a:solidFill>
                <a:latin typeface="Consolas"/>
              </a:rPr>
              <a:t>POO EM 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697480"/>
            <a:ext cx="2880360" cy="30175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5EFE6"/>
                </a:solidFill>
                <a:latin typeface="Calibri"/>
              </a:rPr>
              <a:t>Cada classe faz só a sua parte e passa o resto adiante — isso é </a:t>
            </a:r>
            <a:r>
              <a:rPr sz="1300" b="1" i="0">
                <a:solidFill>
                  <a:srgbClr val="E0792C"/>
                </a:solidFill>
                <a:latin typeface="Calibri"/>
              </a:rPr>
              <a:t>delegação</a:t>
            </a:r>
            <a:r>
              <a:rPr sz="1300" b="0" i="0">
                <a:solidFill>
                  <a:srgbClr val="F5EFE6"/>
                </a:solidFill>
                <a:latin typeface="Calibri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F5EFE6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5EFE6"/>
                </a:solidFill>
                <a:latin typeface="Calibri"/>
              </a:rPr>
              <a:t>O controlador nem precisa saber como o JSON é gravado: </a:t>
            </a:r>
            <a:r>
              <a:rPr sz="1300" b="1" i="0">
                <a:solidFill>
                  <a:srgbClr val="E0792C"/>
                </a:solidFill>
                <a:latin typeface="Calibri"/>
              </a:rPr>
              <a:t>composição</a:t>
            </a:r>
            <a:r>
              <a:rPr sz="1300" b="0" i="0">
                <a:solidFill>
                  <a:srgbClr val="F5EFE6"/>
                </a:solidFill>
                <a:latin typeface="Calibri"/>
              </a:rPr>
              <a:t> + </a:t>
            </a:r>
            <a:r>
              <a:rPr sz="1300" b="1" i="0">
                <a:solidFill>
                  <a:srgbClr val="E0792C"/>
                </a:solidFill>
                <a:latin typeface="Calibri"/>
              </a:rPr>
              <a:t>herança</a:t>
            </a:r>
            <a:r>
              <a:rPr sz="1300" b="0" i="0">
                <a:solidFill>
                  <a:srgbClr val="F5EFE6"/>
                </a:solidFill>
                <a:latin typeface="Calibri"/>
              </a:rPr>
              <a:t> trabalhando juntas.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7969"/>
                </a:solidFill>
                <a:latin typeface="Consolas"/>
              </a:rPr>
              <a:t>Sistema de Vendas • POO em Java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E0792C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92C"/>
                </a:solidFill>
                <a:latin typeface="Consolas"/>
              </a:rPr>
              <a:t>// CÓDIGO  —  PILARES 2 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1338560" cy="8229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5EFE6"/>
                </a:solidFill>
                <a:latin typeface="Calibri"/>
              </a:rPr>
              <a:t>Encapsulamento + Herança em código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349240" cy="3840480"/>
          </a:xfrm>
          <a:prstGeom prst="roundRect">
            <a:avLst>
              <a:gd name="adj" fmla="val 6000"/>
            </a:avLst>
          </a:prstGeom>
          <a:solidFill>
            <a:srgbClr val="2C2118"/>
          </a:solidFill>
          <a:ln>
            <a:noFill/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84832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0792C"/>
                </a:solidFill>
                <a:latin typeface="Consolas"/>
              </a:rPr>
              <a:t>ENCAPSULAMENTO  ·  Venda.java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68880"/>
            <a:ext cx="4892040" cy="32004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class Venda {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</a:t>
            </a:r>
            <a:r>
              <a:rPr sz="1350" b="0" i="1">
                <a:solidFill>
                  <a:srgbClr val="9FB984"/>
                </a:solidFill>
                <a:latin typeface="Consolas"/>
              </a:rPr>
              <a:t>// ENCAPSULAMENTO: dados privados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private final String cliente;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private final double valor;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</a:t>
            </a:r>
            <a:r>
              <a:rPr sz="1350" b="0" i="1">
                <a:solidFill>
                  <a:srgbClr val="9FB984"/>
                </a:solidFill>
                <a:latin typeface="Consolas"/>
              </a:rPr>
              <a:t>// unico acesso permitido = getters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String getCliente() {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  return cliente;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}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double getValor() {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  return valor;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}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920240"/>
            <a:ext cx="5120640" cy="3840480"/>
          </a:xfrm>
          <a:prstGeom prst="roundRect">
            <a:avLst>
              <a:gd name="adj" fmla="val 6000"/>
            </a:avLst>
          </a:prstGeom>
          <a:solidFill>
            <a:srgbClr val="2C2118"/>
          </a:solidFill>
          <a:ln>
            <a:noFill/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84832"/>
            <a:ext cx="466344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0792C"/>
                </a:solidFill>
                <a:latin typeface="Consolas"/>
              </a:rPr>
              <a:t>HERANÇA  ·  GerenciadorVendas.java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468880"/>
            <a:ext cx="4663440" cy="32004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/>
            </a:r>
            <a:r>
              <a:rPr sz="1350" b="0" i="1">
                <a:solidFill>
                  <a:srgbClr val="9FB984"/>
                </a:solidFill>
                <a:latin typeface="Consolas"/>
              </a:rPr>
              <a:t>// HERANCA: reaproveita o codigo da mae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class GerenciadorVendas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      extends Armazenamento {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GerenciadorVendas(String mes) {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  </a:t>
            </a:r>
            <a:r>
              <a:rPr sz="1350" b="0" i="1">
                <a:solidFill>
                  <a:srgbClr val="9FB984"/>
                </a:solidFill>
                <a:latin typeface="Consolas"/>
              </a:rPr>
              <a:t>// super(): chama o construtor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  </a:t>
            </a:r>
            <a:r>
              <a:rPr sz="1350" b="0" i="1">
                <a:solidFill>
                  <a:srgbClr val="9FB984"/>
                </a:solidFill>
                <a:latin typeface="Consolas"/>
              </a:rPr>
              <a:t>// da classe-mae Armazenamento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  super("vendas_" + mes + ".json");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  this.vendas = carregarVendas();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  }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789920" cy="54864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0792C"/>
                </a:solidFill>
                <a:latin typeface="Consolas"/>
              </a:rPr>
              <a:t>private </a:t>
            </a:r>
            <a:r>
              <a:rPr sz="1300" b="0" i="0">
                <a:solidFill>
                  <a:srgbClr val="F5EFE6"/>
                </a:solidFill>
                <a:latin typeface="Calibri"/>
              </a:rPr>
              <a:t>protege os dados  ·  </a:t>
            </a:r>
            <a:r>
              <a:rPr sz="1300" b="1" i="0">
                <a:solidFill>
                  <a:srgbClr val="E0792C"/>
                </a:solidFill>
                <a:latin typeface="Consolas"/>
              </a:rPr>
              <a:t>extends </a:t>
            </a:r>
            <a:r>
              <a:rPr sz="1300" b="0" i="0">
                <a:solidFill>
                  <a:srgbClr val="F5EFE6"/>
                </a:solidFill>
                <a:latin typeface="Calibri"/>
              </a:rPr>
              <a:t>+ </a:t>
            </a:r>
            <a:r>
              <a:rPr sz="1300" b="1" i="0">
                <a:solidFill>
                  <a:srgbClr val="E0792C"/>
                </a:solidFill>
                <a:latin typeface="Consolas"/>
              </a:rPr>
              <a:t>super() </a:t>
            </a:r>
            <a:r>
              <a:rPr sz="1300" b="0" i="0">
                <a:solidFill>
                  <a:srgbClr val="F5EFE6"/>
                </a:solidFill>
                <a:latin typeface="Calibri"/>
              </a:rPr>
              <a:t>reaproveitam a classe-mãe sem copiar código.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92C"/>
                </a:solidFill>
                <a:latin typeface="Consolas"/>
              </a:rPr>
              <a:t>// PILAR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338560" cy="8229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B211A"/>
                </a:solidFill>
                <a:latin typeface="Calibri"/>
              </a:rPr>
              <a:t>Polimorfismo: um nome, vários comportamentos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80160" y="2423160"/>
            <a:ext cx="3657600" cy="731520"/>
          </a:xfrm>
          <a:prstGeom prst="roundRect">
            <a:avLst>
              <a:gd name="adj" fmla="val 18000"/>
            </a:avLst>
          </a:prstGeom>
          <a:solidFill>
            <a:srgbClr val="2C2118"/>
          </a:solidFill>
          <a:ln>
            <a:noFill/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23160"/>
            <a:ext cx="3657600" cy="731520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0792C"/>
                </a:solidFill>
                <a:latin typeface="Consolas"/>
              </a:rPr>
              <a:t>relatorio.exibir()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023360"/>
            <a:ext cx="4480560" cy="713232"/>
          </a:xfrm>
          <a:prstGeom prst="roundRect">
            <a:avLst>
              <a:gd name="adj" fmla="val 12000"/>
            </a:avLst>
          </a:prstGeom>
          <a:solidFill>
            <a:srgbClr val="ECF3EF"/>
          </a:solidFill>
          <a:ln w="15240">
            <a:solidFill>
              <a:srgbClr val="2C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23360"/>
            <a:ext cx="4206240" cy="713232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B211A"/>
                </a:solidFill>
                <a:latin typeface="Calibri"/>
              </a:rPr>
              <a:t>RelatorioMensal</a:t>
            </a:r>
            <a:r>
              <a:rPr sz="1250" b="0" i="0">
                <a:solidFill>
                  <a:srgbClr val="8A7969"/>
                </a:solidFill>
                <a:latin typeface="Calibri"/>
              </a:rPr>
              <a:t>  → estatísticas de 1 mês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892040"/>
            <a:ext cx="4480560" cy="713232"/>
          </a:xfrm>
          <a:prstGeom prst="roundRect">
            <a:avLst>
              <a:gd name="adj" fmla="val 12000"/>
            </a:avLst>
          </a:prstGeom>
          <a:solidFill>
            <a:srgbClr val="ECF3EF"/>
          </a:solidFill>
          <a:ln w="15240">
            <a:solidFill>
              <a:srgbClr val="2C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92040"/>
            <a:ext cx="4206240" cy="713232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B211A"/>
                </a:solidFill>
                <a:latin typeface="Calibri"/>
              </a:rPr>
              <a:t>RelatorioComparativo</a:t>
            </a:r>
            <a:r>
              <a:rPr sz="1250" b="0" i="0">
                <a:solidFill>
                  <a:srgbClr val="8A7969"/>
                </a:solidFill>
                <a:latin typeface="Calibri"/>
              </a:rPr>
              <a:t>  → compara 2 meses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737360" y="3154680"/>
            <a:ext cx="457200" cy="868680"/>
          </a:xfrm>
          <a:prstGeom prst="line">
            <a:avLst/>
          </a:prstGeom>
          <a:ln w="22860">
            <a:solidFill>
              <a:srgbClr val="2C7A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60520" y="3154680"/>
            <a:ext cx="45720" cy="1737360"/>
          </a:xfrm>
          <a:prstGeom prst="line">
            <a:avLst/>
          </a:prstGeom>
          <a:ln w="22860">
            <a:solidFill>
              <a:srgbClr val="2C7A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89320" y="2011680"/>
            <a:ext cx="5669280" cy="3749039"/>
          </a:xfrm>
          <a:prstGeom prst="roundRect">
            <a:avLst>
              <a:gd name="adj" fmla="val 6000"/>
            </a:avLst>
          </a:prstGeom>
          <a:solidFill>
            <a:srgbClr val="2C2118"/>
          </a:solidFill>
          <a:ln>
            <a:noFill/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2176272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0792C"/>
                </a:solidFill>
                <a:latin typeface="Consolas"/>
              </a:rPr>
              <a:t>O MESMO MÉTODO, ESCRITO DE DOIS JEITOS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560320"/>
            <a:ext cx="5212080" cy="3108959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E4D8"/>
                </a:solidFill>
                <a:latin typeface="Consolas"/>
              </a:rPr>
              <a:t>abstract class Relatorio {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E4D8"/>
                </a:solidFill>
                <a:latin typeface="Consolas"/>
              </a:rPr>
              <a:t>  </a:t>
            </a:r>
            <a:r>
              <a:rPr sz="1300" b="0" i="1">
                <a:solidFill>
                  <a:srgbClr val="9FB984"/>
                </a:solidFill>
                <a:latin typeface="Consolas"/>
              </a:rPr>
              <a:t>// contrato: toda filha implementa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E4D8"/>
                </a:solidFill>
                <a:latin typeface="Consolas"/>
              </a:rPr>
              <a:t>  abstract void exibir();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E4D8"/>
                </a:solidFill>
                <a:latin typeface="Consolas"/>
              </a:rPr>
              <a:t>}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E4D8"/>
                </a:solidFill>
                <a:latin typeface="Consolas"/>
              </a:rPr>
              <a:t> 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E4D8"/>
                </a:solidFill>
                <a:latin typeface="Consolas"/>
              </a:rPr>
              <a:t>class RelatorioMensal extends Relatorio {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E4D8"/>
                </a:solidFill>
                <a:latin typeface="Consolas"/>
              </a:rPr>
              <a:t>  @Override void exibir() {  /* metricas */  }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E4D8"/>
                </a:solidFill>
                <a:latin typeface="Consolas"/>
              </a:rPr>
              <a:t>}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E4D8"/>
                </a:solidFill>
                <a:latin typeface="Consolas"/>
              </a:rPr>
              <a:t> 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E4D8"/>
                </a:solidFill>
                <a:latin typeface="Consolas"/>
              </a:rPr>
              <a:t>class RelatorioComparativo extends Relatorio {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E4D8"/>
                </a:solidFill>
                <a:latin typeface="Consolas"/>
              </a:rPr>
              <a:t>  @Override void exibir() {  /* compara */  }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E4D8"/>
                </a:solidFill>
                <a:latin typeface="Consolas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7969"/>
                </a:solidFill>
                <a:latin typeface="Consolas"/>
              </a:rPr>
              <a:t>Sistema de Vendas • POO em 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E0792C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92C"/>
                </a:solidFill>
                <a:latin typeface="Consolas"/>
              </a:rPr>
              <a:t>// O CORAÇÃO DO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338560" cy="8229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B211A"/>
                </a:solidFill>
                <a:latin typeface="Calibri"/>
              </a:rPr>
              <a:t>O relatório mensal e suas métricas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456432" cy="1078992"/>
          </a:xfrm>
          <a:prstGeom prst="roundRect">
            <a:avLst>
              <a:gd name="adj" fmla="val 10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456432" cy="109728"/>
          </a:xfrm>
          <a:prstGeom prst="roundRect">
            <a:avLst>
              <a:gd name="adj" fmla="val 30000"/>
            </a:avLst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20824"/>
            <a:ext cx="2999232" cy="4572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B211A"/>
                </a:solidFill>
                <a:latin typeface="Calibri"/>
              </a:rPr>
              <a:t>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2999232" cy="4572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A7969"/>
                </a:solidFill>
                <a:latin typeface="Calibri"/>
              </a:rPr>
              <a:t>soma de todas as vendas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874519"/>
            <a:ext cx="3456432" cy="1078992"/>
          </a:xfrm>
          <a:prstGeom prst="roundRect">
            <a:avLst>
              <a:gd name="adj" fmla="val 10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79392" y="1874519"/>
            <a:ext cx="3456432" cy="109728"/>
          </a:xfrm>
          <a:prstGeom prst="roundRect">
            <a:avLst>
              <a:gd name="adj" fmla="val 30000"/>
            </a:avLst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020824"/>
            <a:ext cx="2999232" cy="4572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B211A"/>
                </a:solidFill>
                <a:latin typeface="Calibri"/>
              </a:rPr>
              <a:t>Média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441448"/>
            <a:ext cx="2999232" cy="4572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A7969"/>
                </a:solidFill>
                <a:latin typeface="Calibri"/>
              </a:rPr>
              <a:t>total ÷ quantidade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874519"/>
            <a:ext cx="3456432" cy="1078992"/>
          </a:xfrm>
          <a:prstGeom prst="roundRect">
            <a:avLst>
              <a:gd name="adj" fmla="val 10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10144" y="1874519"/>
            <a:ext cx="3456432" cy="109728"/>
          </a:xfrm>
          <a:prstGeom prst="roundRect">
            <a:avLst>
              <a:gd name="adj" fmla="val 30000"/>
            </a:avLst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2020824"/>
            <a:ext cx="2999232" cy="4572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B211A"/>
                </a:solidFill>
                <a:latin typeface="Calibri"/>
              </a:rPr>
              <a:t>Maior / Menor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441448"/>
            <a:ext cx="2999232" cy="4572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A7969"/>
                </a:solidFill>
                <a:latin typeface="Calibri"/>
              </a:rPr>
              <a:t>extremos do mês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09544"/>
            <a:ext cx="3456432" cy="1078992"/>
          </a:xfrm>
          <a:prstGeom prst="roundRect">
            <a:avLst>
              <a:gd name="adj" fmla="val 10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209544"/>
            <a:ext cx="3456432" cy="109728"/>
          </a:xfrm>
          <a:prstGeom prst="roundRect">
            <a:avLst>
              <a:gd name="adj" fmla="val 30000"/>
            </a:avLst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355848"/>
            <a:ext cx="2999232" cy="4572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B211A"/>
                </a:solidFill>
                <a:latin typeface="Calibri"/>
              </a:rPr>
              <a:t>Top clientes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776472"/>
            <a:ext cx="2999232" cy="4572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A7969"/>
                </a:solidFill>
                <a:latin typeface="Calibri"/>
              </a:rPr>
              <a:t>mais pedidos e quem mais gastou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3209544"/>
            <a:ext cx="3456432" cy="1078992"/>
          </a:xfrm>
          <a:prstGeom prst="roundRect">
            <a:avLst>
              <a:gd name="adj" fmla="val 10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79392" y="3209544"/>
            <a:ext cx="3456432" cy="109728"/>
          </a:xfrm>
          <a:prstGeom prst="roundRect">
            <a:avLst>
              <a:gd name="adj" fmla="val 30000"/>
            </a:avLst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3355848"/>
            <a:ext cx="2999232" cy="4572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B211A"/>
                </a:solidFill>
                <a:latin typeface="Calibri"/>
              </a:rPr>
              <a:t>Comissão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776472"/>
            <a:ext cx="2999232" cy="4572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A7969"/>
                </a:solidFill>
                <a:latin typeface="Calibri"/>
              </a:rPr>
              <a:t>3% fixos sobre o total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3209544"/>
            <a:ext cx="3456432" cy="1078992"/>
          </a:xfrm>
          <a:prstGeom prst="roundRect">
            <a:avLst>
              <a:gd name="adj" fmla="val 10000"/>
            </a:avLst>
          </a:prstGeom>
          <a:solidFill>
            <a:srgbClr val="FDFAF4"/>
          </a:solidFill>
          <a:ln w="12700">
            <a:solidFill>
              <a:srgbClr val="E2D7C6"/>
            </a:solidFill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10144" y="3209544"/>
            <a:ext cx="3456432" cy="109728"/>
          </a:xfrm>
          <a:prstGeom prst="roundRect">
            <a:avLst>
              <a:gd name="adj" fmla="val 30000"/>
            </a:avLst>
          </a:prstGeom>
          <a:solidFill>
            <a:srgbClr val="2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5" y="3355848"/>
            <a:ext cx="2999232" cy="4572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B211A"/>
                </a:solidFill>
                <a:latin typeface="Calibri"/>
              </a:rPr>
              <a:t>Quantidade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3776472"/>
            <a:ext cx="2999232" cy="4572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A7969"/>
                </a:solidFill>
                <a:latin typeface="Calibri"/>
              </a:rPr>
              <a:t>número de vendas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26280"/>
            <a:ext cx="11109960" cy="1600200"/>
          </a:xfrm>
          <a:prstGeom prst="roundRect">
            <a:avLst>
              <a:gd name="adj" fmla="val 6000"/>
            </a:avLst>
          </a:prstGeom>
          <a:solidFill>
            <a:srgbClr val="2C2118"/>
          </a:solidFill>
          <a:ln>
            <a:noFill/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690872"/>
            <a:ext cx="1065276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0792C"/>
                </a:solidFill>
                <a:latin typeface="Consolas"/>
              </a:rPr>
              <a:t>EXEMPLO REAL DE SAÍDA DO PROGRAMA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074920"/>
            <a:ext cx="10652760" cy="9601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4D8"/>
                </a:solidFill>
                <a:latin typeface="Consolas"/>
              </a:rPr>
              <a:t>=== RELATORIO DE VENDAS ===                          Comissao do vendedor: R$ 7,50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4D8"/>
                </a:solidFill>
                <a:latin typeface="Consolas"/>
              </a:rPr>
              <a:t>Total: R$ 250,00   Media: R$ 83,33   Maior: R$ 100,00   Menor: R$ 50,00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4D8"/>
                </a:solidFill>
                <a:latin typeface="Consolas"/>
              </a:rPr>
              <a:t>Cliente com mais pedidos: Ana (2)        Cliente que mais gastou: Ana (R$ 150,00)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7969"/>
                </a:solidFill>
                <a:latin typeface="Consolas"/>
              </a:rPr>
              <a:t>Sistema de Vendas • POO em Java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E0792C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92C"/>
                </a:solidFill>
                <a:latin typeface="Consolas"/>
              </a:rPr>
              <a:t>// PERSISTÊNCIA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1338560" cy="8229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5EFE6"/>
                </a:solidFill>
                <a:latin typeface="Calibri"/>
              </a:rPr>
              <a:t>Os dados moram em arquivos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237744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E0792C"/>
                </a:solidFill>
                <a:latin typeface="Calibri"/>
              </a:rPr>
              <a:t>Um arquivo por mês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CE4D8"/>
                </a:solidFill>
                <a:latin typeface="Consolas"/>
              </a:rPr>
              <a:t>vendas_2026-06.json, vendas_2026-05.json 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700" b="0" i="0">
                <a:solidFill>
                  <a:srgbClr val="F5EFE6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E0792C"/>
                </a:solidFill>
                <a:latin typeface="Calibri"/>
              </a:rPr>
              <a:t>Salvo automaticamente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D7CBBC"/>
                </a:solidFill>
                <a:latin typeface="Calibri"/>
              </a:rPr>
              <a:t>toda venda adicionada ou apagada grava o arquivo na hora.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700" b="0" i="0">
                <a:solidFill>
                  <a:srgbClr val="F5EFE6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E0792C"/>
                </a:solidFill>
                <a:latin typeface="Calibri"/>
              </a:rPr>
              <a:t>Tolerante a falhas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D7CBBC"/>
                </a:solidFill>
                <a:latin typeface="Calibri"/>
              </a:rPr>
              <a:t>se o arquivo sumir ou corromper, o programa começa do zero sem travar.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4937760" cy="3840480"/>
          </a:xfrm>
          <a:prstGeom prst="roundRect">
            <a:avLst>
              <a:gd name="adj" fmla="val 6000"/>
            </a:avLst>
          </a:prstGeom>
          <a:solidFill>
            <a:srgbClr val="2C2118"/>
          </a:solidFill>
          <a:ln>
            <a:noFill/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9712" y="1993392"/>
            <a:ext cx="448056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0792C"/>
                </a:solidFill>
                <a:latin typeface="Consolas"/>
              </a:rPr>
              <a:t>vendas_2026-06.json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9712" y="2377440"/>
            <a:ext cx="4480560" cy="32004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[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    {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        "cliente": "Ana",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        "valor": 100.0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    },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    {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        "cliente": "Bruno",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        "valor": 50.0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    }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CE4D8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92C"/>
                </a:solidFill>
                <a:latin typeface="Consolas"/>
              </a:rPr>
              <a:t>// RECURSOS DA LINGUAGEM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338560" cy="8229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B211A"/>
                </a:solidFill>
                <a:latin typeface="Calibri"/>
              </a:rPr>
              <a:t>Os recursos de Java por trás de cada conceito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1092708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40680"/>
                <a:gridCol w="5486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FC2B2"/>
                          </a:solidFill>
                          <a:latin typeface="Calibri"/>
                        </a:rPr>
                        <a:t>Conceito de POO</a:t>
                      </a:r>
                    </a:p>
                  </a:txBody>
                  <a:tcPr marL="182880" marR="91440" marT="36576" marB="36576" anchor="ctr">
                    <a:solidFill>
                      <a:srgbClr val="2018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5EFE6"/>
                          </a:solidFill>
                          <a:latin typeface="Calibri"/>
                        </a:rPr>
                        <a:t>Recurso de Java</a:t>
                      </a:r>
                    </a:p>
                  </a:txBody>
                  <a:tcPr marL="182880" marR="91440" marT="36576" marB="36576" anchor="ctr">
                    <a:solidFill>
                      <a:srgbClr val="20181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B211A"/>
                          </a:solidFill>
                          <a:latin typeface="Calibri"/>
                        </a:rPr>
                        <a:t>Encapsulamento</a:t>
                      </a:r>
                    </a:p>
                  </a:txBody>
                  <a:tcPr marL="182880" marR="91440" marT="36576" marB="36576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11A"/>
                          </a:solidFill>
                          <a:latin typeface="Consolas"/>
                        </a:rPr>
                        <a:t>private  +  getters</a:t>
                      </a:r>
                    </a:p>
                  </a:txBody>
                  <a:tcPr marL="182880" marR="91440" marT="36576" marB="36576" anchor="ctr">
                    <a:solidFill>
                      <a:srgbClr val="FDFA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B211A"/>
                          </a:solidFill>
                          <a:latin typeface="Calibri"/>
                        </a:rPr>
                        <a:t>Herança</a:t>
                      </a:r>
                    </a:p>
                  </a:txBody>
                  <a:tcPr marL="182880" marR="91440" marT="36576" marB="36576" anchor="ctr">
                    <a:solidFill>
                      <a:srgbClr val="EF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11A"/>
                          </a:solidFill>
                          <a:latin typeface="Consolas"/>
                        </a:rPr>
                        <a:t>extends  +  super(...)</a:t>
                      </a:r>
                    </a:p>
                  </a:txBody>
                  <a:tcPr marL="182880" marR="91440" marT="36576" marB="36576" anchor="ctr">
                    <a:solidFill>
                      <a:srgbClr val="EFE7D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B211A"/>
                          </a:solidFill>
                          <a:latin typeface="Calibri"/>
                        </a:rPr>
                        <a:t>Polimorfismo</a:t>
                      </a:r>
                    </a:p>
                  </a:txBody>
                  <a:tcPr marL="182880" marR="91440" marT="36576" marB="36576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11A"/>
                          </a:solidFill>
                          <a:latin typeface="Consolas"/>
                        </a:rPr>
                        <a:t>abstract  +  @Override</a:t>
                      </a:r>
                    </a:p>
                  </a:txBody>
                  <a:tcPr marL="182880" marR="91440" marT="36576" marB="36576" anchor="ctr">
                    <a:solidFill>
                      <a:srgbClr val="FDFA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B211A"/>
                          </a:solidFill>
                          <a:latin typeface="Calibri"/>
                        </a:rPr>
                        <a:t>Constante de classe</a:t>
                      </a:r>
                    </a:p>
                  </a:txBody>
                  <a:tcPr marL="182880" marR="91440" marT="36576" marB="36576" anchor="ctr">
                    <a:solidFill>
                      <a:srgbClr val="EF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11A"/>
                          </a:solidFill>
                          <a:latin typeface="Consolas"/>
                        </a:rPr>
                        <a:t>static final</a:t>
                      </a:r>
                    </a:p>
                  </a:txBody>
                  <a:tcPr marL="182880" marR="91440" marT="36576" marB="36576" anchor="ctr">
                    <a:solidFill>
                      <a:srgbClr val="EFE7D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B211A"/>
                          </a:solidFill>
                          <a:latin typeface="Calibri"/>
                        </a:rPr>
                        <a:t>Imutabilidade</a:t>
                      </a:r>
                    </a:p>
                  </a:txBody>
                  <a:tcPr marL="182880" marR="91440" marT="36576" marB="36576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11A"/>
                          </a:solidFill>
                          <a:latin typeface="Consolas"/>
                        </a:rPr>
                        <a:t>final</a:t>
                      </a:r>
                    </a:p>
                  </a:txBody>
                  <a:tcPr marL="182880" marR="91440" marT="36576" marB="36576" anchor="ctr">
                    <a:solidFill>
                      <a:srgbClr val="FDFA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B211A"/>
                          </a:solidFill>
                          <a:latin typeface="Calibri"/>
                        </a:rPr>
                        <a:t>Coleções de dados</a:t>
                      </a:r>
                    </a:p>
                  </a:txBody>
                  <a:tcPr marL="182880" marR="91440" marT="36576" marB="36576" anchor="ctr">
                    <a:solidFill>
                      <a:srgbClr val="EF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11A"/>
                          </a:solidFill>
                          <a:latin typeface="Consolas"/>
                        </a:rPr>
                        <a:t>List, Map, LinkedHashMap</a:t>
                      </a:r>
                    </a:p>
                  </a:txBody>
                  <a:tcPr marL="182880" marR="91440" marT="36576" marB="36576" anchor="ctr">
                    <a:solidFill>
                      <a:srgbClr val="EFE7D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B211A"/>
                          </a:solidFill>
                          <a:latin typeface="Calibri"/>
                        </a:rPr>
                        <a:t>Tratamento de erro</a:t>
                      </a:r>
                    </a:p>
                  </a:txBody>
                  <a:tcPr marL="182880" marR="91440" marT="36576" marB="36576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11A"/>
                          </a:solidFill>
                          <a:latin typeface="Consolas"/>
                        </a:rPr>
                        <a:t>try / catch</a:t>
                      </a:r>
                    </a:p>
                  </a:txBody>
                  <a:tcPr marL="182880" marR="91440" marT="36576" marB="36576" anchor="ctr">
                    <a:solidFill>
                      <a:srgbClr val="FDFA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B211A"/>
                          </a:solidFill>
                          <a:latin typeface="Calibri"/>
                        </a:rPr>
                        <a:t>Entrada / saída</a:t>
                      </a:r>
                    </a:p>
                  </a:txBody>
                  <a:tcPr marL="182880" marR="91440" marT="36576" marB="36576" anchor="ctr">
                    <a:solidFill>
                      <a:srgbClr val="EF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11A"/>
                          </a:solidFill>
                          <a:latin typeface="Consolas"/>
                        </a:rPr>
                        <a:t>Scanner  ·  Files (UTF-8)</a:t>
                      </a:r>
                    </a:p>
                  </a:txBody>
                  <a:tcPr marL="182880" marR="91440" marT="36576" marB="36576" anchor="ctr">
                    <a:solidFill>
                      <a:srgbClr val="EFE7D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7969"/>
                </a:solidFill>
                <a:latin typeface="Consolas"/>
              </a:rPr>
              <a:t>Sistema de Vendas • POO em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E0792C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914400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92C"/>
                </a:solidFill>
                <a:latin typeface="Consolas"/>
              </a:rPr>
              <a:t>// COMO EXECUTAR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1338560" cy="8229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5EFE6"/>
                </a:solidFill>
                <a:latin typeface="Calibri"/>
              </a:rPr>
              <a:t>Pronto para compilar, rodar e apresentar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2C2118"/>
          </a:solidFill>
          <a:ln>
            <a:noFill/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754880" cy="1188720"/>
          </a:xfrm>
          <a:prstGeom prst="rect">
            <a:avLst/>
          </a:prstGeom>
          <a:noFill/>
        </p:spPr>
        <p:txBody>
          <a:bodyPr wrap="square" anchor="ctr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200" b="1" i="0">
                <a:solidFill>
                  <a:srgbClr val="E0792C"/>
                </a:solidFill>
                <a:latin typeface="Calibri"/>
              </a:rPr>
              <a:t>7</a:t>
            </a:r>
            <a:r>
              <a:rPr sz="2400" b="0" i="0">
                <a:solidFill>
                  <a:srgbClr val="F5EFE6"/>
                </a:solidFill>
                <a:latin typeface="Calibri"/>
              </a:rPr>
              <a:t> 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1188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CFC2B2"/>
                </a:solidFill>
                <a:latin typeface="Calibri"/>
              </a:rPr>
              <a:t>4 pilares da POO em um único arquivo .java.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2860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6100B"/>
          </a:solidFill>
          <a:ln>
            <a:noFill/>
          </a:ln>
          <a:effectLst>
            <a:outerShdw blurRad="54864" dist="36576" dir="5400000" rotWithShape="0">
              <a:srgbClr val="20170F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2450592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0792C"/>
                </a:solidFill>
                <a:latin typeface="Consolas"/>
              </a:rPr>
              <a:t>COMO COMPILAR E EXECUTAR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834640"/>
            <a:ext cx="4937760" cy="1188719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ECE4D8"/>
                </a:solidFill>
                <a:latin typeface="Consolas"/>
              </a:rPr>
              <a:t>$ javac -encoding UTF-8 SistemaVendas.java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ECE4D8"/>
                </a:solidFill>
                <a:latin typeface="Consolas"/>
              </a:rPr>
              <a:t>$ java SistemaVendas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3977639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CFC2B2"/>
                </a:solidFill>
                <a:latin typeface="Calibri"/>
              </a:rPr>
              <a:t>Sem bibliotecas externas — só o JDK.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92040"/>
            <a:ext cx="10789920" cy="914400"/>
          </a:xfrm>
          <a:prstGeom prst="rect">
            <a:avLst/>
          </a:prstGeom>
          <a:noFill/>
        </p:spPr>
        <p:txBody>
          <a:bodyPr wrap="square" anchor="t" lIns="36576" rIns="36576" tIns="21945" bIns="2194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EFE6"/>
                </a:solidFill>
                <a:latin typeface="Calibri"/>
              </a:rPr>
              <a:t>Código comentado linha a linha, dos atributos privados ao menu principal.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792C"/>
                </a:solidFill>
                <a:latin typeface="Calibri"/>
              </a:rPr>
              <a:t>Altemir Filho e Juscelino Santos</a:t>
            </a:r>
            <a:r>
              <a:rPr sz="1300" b="0" i="1">
                <a:solidFill>
                  <a:srgbClr val="CFC2B2"/>
                </a:solidFill>
                <a:latin typeface="Calibri"/>
              </a:rPr>
              <a:t>   ·   Sistema de Vendas — POO em Java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